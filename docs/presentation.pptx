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5" r:id="rId9"/>
    <p:sldId id="269" r:id="rId10"/>
    <p:sldId id="263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1526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1718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3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5447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3992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659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583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1626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536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874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8403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DCFB06-9EA0-41DB-8916-6B203D593400}" type="datetimeFigureOut">
              <a:rPr lang="ru-RU" smtClean="0"/>
              <a:t>28.02.2021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570F5-71DD-41C8-8B27-0A3E80C1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138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tm.spbstu.ru/%D0%A2%D1%80%D0%B0%D0%B5%D0%BA%D1%82%D0%BE%D1%80%D0%B8%D1%8F_%D1%82%D0%B5%D0%BB%D0%B0,_%D0%B1%D1%80%D0%BE%D1%88%D0%B5%D0%BD%D0%BD%D0%BE%D0%B3%D0%BE_%D0%BF%D0%BE%D0%B4_%D1%83%D0%B3%D0%BB%D0%BE%D0%BC_%D0%BA_%D0%B3%D0%BE%D1%80%D0%B8%D0%B7%D0%BE%D0%BD%D1%82%D1%8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lay.google.com/store/apps/details?id=com.mygdx.projectile&amp;hl=ru&amp;gl=U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500" b="1" dirty="0"/>
              <a:t>Моделирование траектории движения брошенного тела</a:t>
            </a:r>
            <a:r>
              <a:rPr lang="ru-RU" sz="4500" b="1" dirty="0" smtClean="0"/>
              <a:t>.</a:t>
            </a:r>
            <a:endParaRPr lang="ru-RU" sz="45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4402138"/>
            <a:ext cx="9486900" cy="2141537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</a:pPr>
            <a:r>
              <a:rPr lang="ru-RU" sz="1600" b="1" dirty="0" smtClean="0"/>
              <a:t>Выполнил: </a:t>
            </a:r>
            <a:r>
              <a:rPr lang="ru-RU" sz="1600" dirty="0" err="1" smtClean="0"/>
              <a:t>Ювенский</a:t>
            </a:r>
            <a:r>
              <a:rPr lang="ru-RU" sz="1600" dirty="0" smtClean="0"/>
              <a:t> Лев, ученик </a:t>
            </a:r>
            <a:r>
              <a:rPr lang="ru-RU" sz="1600" dirty="0"/>
              <a:t>10 класса </a:t>
            </a:r>
            <a:r>
              <a:rPr lang="ru-RU" sz="1600" dirty="0" smtClean="0"/>
              <a:t>Г ГБОУ </a:t>
            </a:r>
            <a:r>
              <a:rPr lang="ru-RU" sz="1600" dirty="0"/>
              <a:t>г. </a:t>
            </a:r>
            <a:r>
              <a:rPr lang="ru-RU" sz="1600" dirty="0" smtClean="0"/>
              <a:t>Москвы «Бауманская </a:t>
            </a:r>
            <a:r>
              <a:rPr lang="ru-RU" sz="1600" dirty="0"/>
              <a:t>инженерная школа № </a:t>
            </a:r>
            <a:r>
              <a:rPr lang="ru-RU" sz="1600" dirty="0" smtClean="0"/>
              <a:t>1580»</a:t>
            </a:r>
            <a:endParaRPr lang="ru-RU" sz="1600" dirty="0"/>
          </a:p>
          <a:p>
            <a:pPr algn="l">
              <a:lnSpc>
                <a:spcPct val="100000"/>
              </a:lnSpc>
            </a:pPr>
            <a:r>
              <a:rPr lang="ru-RU" sz="1600" b="1" dirty="0"/>
              <a:t>Научный </a:t>
            </a:r>
            <a:r>
              <a:rPr lang="ru-RU" sz="1600" b="1" dirty="0" smtClean="0"/>
              <a:t>руководитель:</a:t>
            </a:r>
            <a:r>
              <a:rPr lang="ru-RU" sz="1600" dirty="0" smtClean="0"/>
              <a:t> Лобачев </a:t>
            </a:r>
            <a:r>
              <a:rPr lang="ru-RU" sz="1600" dirty="0"/>
              <a:t>Александр </a:t>
            </a:r>
            <a:r>
              <a:rPr lang="ru-RU" sz="1600" dirty="0" smtClean="0"/>
              <a:t>Александрович, старший </a:t>
            </a:r>
            <a:r>
              <a:rPr lang="ru-RU" sz="1600" dirty="0"/>
              <a:t>преподаватель кафедры СУНЦ-1, учитель информатики</a:t>
            </a:r>
          </a:p>
        </p:txBody>
      </p:sp>
    </p:spTree>
    <p:extLst>
      <p:ext uri="{BB962C8B-B14F-4D97-AF65-F5344CB8AC3E}">
        <p14:creationId xmlns:p14="http://schemas.microsoft.com/office/powerpoint/2010/main" val="247907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 smtClean="0"/>
              <a:t>Аннотация</a:t>
            </a: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dirty="0"/>
              <a:t>Приложение с графическим интерфейсом, позволяющее моделировать траекторию и рассчитывать параметры броска тела.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238" y="2730501"/>
            <a:ext cx="6567488" cy="361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13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 smtClean="0"/>
              <a:t>Обоснование актуальности</a:t>
            </a: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Рассмотренная мною задача может быть полезна людям, изучающим движение тела, брошенного под углом к горизонту. Она поможет им в понимании данной темы посредствам визуального представления и расчетов всех параметров движения тела.</a:t>
            </a:r>
          </a:p>
          <a:p>
            <a:r>
              <a:rPr lang="ru-RU" sz="2400" dirty="0"/>
              <a:t>Данный проект относится к направлению разработки приложения с графическим интерфейсом для ПК</a:t>
            </a:r>
          </a:p>
        </p:txBody>
      </p:sp>
    </p:spTree>
    <p:extLst>
      <p:ext uri="{BB962C8B-B14F-4D97-AF65-F5344CB8AC3E}">
        <p14:creationId xmlns:p14="http://schemas.microsoft.com/office/powerpoint/2010/main" val="2243820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 smtClean="0"/>
              <a:t>Цель и задачи</a:t>
            </a:r>
            <a:r>
              <a:rPr lang="ru-RU" sz="3500" dirty="0" smtClean="0"/>
              <a:t/>
            </a:r>
            <a:br>
              <a:rPr lang="ru-RU" sz="3500" dirty="0" smtClean="0"/>
            </a:b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53453" y="1371600"/>
            <a:ext cx="10800347" cy="531795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 smtClean="0"/>
              <a:t>Цель</a:t>
            </a:r>
            <a:r>
              <a:rPr lang="ru-RU" sz="2000" b="1" dirty="0"/>
              <a:t>: </a:t>
            </a:r>
            <a:r>
              <a:rPr lang="ru-RU" sz="2000" dirty="0"/>
              <a:t>создать приложение с графическим интерфейсом, позволяющее моделировать движение брошенного тела</a:t>
            </a:r>
            <a:r>
              <a:rPr lang="ru-RU" sz="2000" dirty="0" smtClean="0"/>
              <a:t>.</a:t>
            </a:r>
            <a:endParaRPr lang="ru-RU" sz="2000" dirty="0"/>
          </a:p>
          <a:p>
            <a:pPr marL="0" indent="0">
              <a:buNone/>
            </a:pPr>
            <a:endParaRPr lang="ru-RU" sz="2000" dirty="0" smtClean="0"/>
          </a:p>
          <a:p>
            <a:pPr marL="0" indent="0">
              <a:buNone/>
            </a:pPr>
            <a:r>
              <a:rPr lang="ru-RU" sz="2000" b="1" dirty="0" smtClean="0"/>
              <a:t>Задачи</a:t>
            </a:r>
            <a:r>
              <a:rPr lang="ru-RU" sz="2000" b="1" dirty="0"/>
              <a:t>: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Разработать графический интерфейс приложения.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Реализовать ф-</a:t>
            </a:r>
            <a:r>
              <a:rPr lang="ru-RU" sz="2000" dirty="0" err="1"/>
              <a:t>цию</a:t>
            </a:r>
            <a:r>
              <a:rPr lang="ru-RU" sz="2000" dirty="0"/>
              <a:t> выбора типа броска (вертикально вверх, горизонтально, под углом к горизонту).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Реализовать возможность ввода параметров броска в окно приложения.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Реализовать возможность чтения параметров броска из файла.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Реализовать расчёт параметров броска </a:t>
            </a:r>
            <a:endParaRPr lang="ru-RU" sz="2000" dirty="0" smtClean="0"/>
          </a:p>
          <a:p>
            <a:pPr marL="514350" lvl="0" indent="-514350">
              <a:buFont typeface="+mj-lt"/>
              <a:buAutoNum type="arabicPeriod"/>
            </a:pPr>
            <a:r>
              <a:rPr lang="ru-RU" sz="2000" dirty="0" smtClean="0"/>
              <a:t>Реализовать </a:t>
            </a:r>
            <a:r>
              <a:rPr lang="ru-RU" sz="2000" dirty="0"/>
              <a:t>визуализацию </a:t>
            </a:r>
            <a:r>
              <a:rPr lang="ru-RU" sz="2000" dirty="0" smtClean="0"/>
              <a:t>траектории броска</a:t>
            </a:r>
            <a:endParaRPr lang="ru-RU" sz="2000" dirty="0"/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Реализовать ф-</a:t>
            </a:r>
            <a:r>
              <a:rPr lang="ru-RU" sz="2000" dirty="0" err="1"/>
              <a:t>цию</a:t>
            </a:r>
            <a:r>
              <a:rPr lang="ru-RU" sz="2000" dirty="0"/>
              <a:t> сохранения параметров броска в файл.</a:t>
            </a:r>
          </a:p>
          <a:p>
            <a:pPr marL="514350" lvl="0" indent="-514350">
              <a:buFont typeface="+mj-lt"/>
              <a:buAutoNum type="arabicPeriod"/>
            </a:pPr>
            <a:r>
              <a:rPr lang="ru-RU" sz="2000" dirty="0"/>
              <a:t>Реализовать ф-</a:t>
            </a:r>
            <a:r>
              <a:rPr lang="ru-RU" sz="2000" dirty="0" err="1"/>
              <a:t>цию</a:t>
            </a:r>
            <a:r>
              <a:rPr lang="ru-RU" sz="2000" dirty="0"/>
              <a:t> открытия информационного ресурса с теорией по выбранной теме в браузере.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25835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 smtClean="0"/>
              <a:t>Анализ существующих решений</a:t>
            </a: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8490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000" dirty="0" smtClean="0"/>
              <a:t>Сайт </a:t>
            </a:r>
            <a:r>
              <a:rPr lang="ru-RU" sz="2000" u="sng" dirty="0" smtClean="0">
                <a:hlinkClick r:id="rId2"/>
              </a:rPr>
              <a:t>tm.spbstu.ru</a:t>
            </a:r>
            <a:endParaRPr lang="ru-RU" sz="2000" dirty="0" smtClean="0"/>
          </a:p>
          <a:p>
            <a:pPr marL="0" indent="0">
              <a:buNone/>
            </a:pPr>
            <a:r>
              <a:rPr lang="ru-RU" sz="2000" dirty="0" smtClean="0"/>
              <a:t>Данный сайт предоставляет информацию о формулах, позволяющих рассчитать движение тела, брошенного под углом к горизонту, а также абстрактную графическую визуализацию траектории полёта в зависимости от угла к горизонту, под которым будет произведён бросок.</a:t>
            </a:r>
          </a:p>
          <a:p>
            <a:pPr marL="0" indent="0">
              <a:buNone/>
            </a:pPr>
            <a:endParaRPr lang="ru-RU" sz="2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3181350"/>
            <a:ext cx="6168547" cy="3395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91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 smtClean="0"/>
              <a:t>Анализ существующих решений</a:t>
            </a: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374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ru-RU" sz="2000" dirty="0" smtClean="0"/>
              <a:t>Приложение </a:t>
            </a:r>
            <a:r>
              <a:rPr lang="ru-RU" sz="2000" dirty="0"/>
              <a:t>под ОС </a:t>
            </a:r>
            <a:r>
              <a:rPr lang="en-US" sz="2000" dirty="0"/>
              <a:t>Android </a:t>
            </a:r>
            <a:r>
              <a:rPr lang="en-US" sz="2000" u="sng" dirty="0">
                <a:hlinkClick r:id="rId2"/>
              </a:rPr>
              <a:t>Projectile Motion for High School Physics</a:t>
            </a:r>
            <a:endParaRPr lang="ru-RU" sz="2000" dirty="0"/>
          </a:p>
          <a:p>
            <a:pPr marL="0" indent="0">
              <a:buNone/>
            </a:pPr>
            <a:r>
              <a:rPr lang="ru-RU" sz="2000" dirty="0"/>
              <a:t>Так же позволяет смоделировать траекторию движения тела, брошенного под углом к горизонту, однако уже с возможностью конкретно задать начальную скорость и угол, под которым был произведён бросок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38084"/>
            <a:ext cx="2943225" cy="35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87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Описание </a:t>
            </a:r>
            <a:r>
              <a:rPr lang="ru-RU" sz="3500" b="1" dirty="0" smtClean="0"/>
              <a:t>новизны</a:t>
            </a: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smtClean="0"/>
              <a:t>В </a:t>
            </a:r>
            <a:r>
              <a:rPr lang="ru-RU" sz="2400" dirty="0"/>
              <a:t>отличие от рассмотренных выше существующих решений, моё приложение позволяет:</a:t>
            </a:r>
          </a:p>
          <a:p>
            <a:pPr lvl="0"/>
            <a:r>
              <a:rPr lang="ru-RU" sz="2400" dirty="0"/>
              <a:t>Выбрать тип броска: вертикально вверх, горизонтально или под углом к горизонту.</a:t>
            </a:r>
          </a:p>
          <a:p>
            <a:pPr lvl="0"/>
            <a:r>
              <a:rPr lang="ru-RU" sz="2400" dirty="0"/>
              <a:t>Рассчитать такие параметры броска, как начальная скорость, время полёта, максимальная высота, на которую поднялось тело за время полёта, и дальность полёта.</a:t>
            </a:r>
          </a:p>
          <a:p>
            <a:pPr lvl="0"/>
            <a:r>
              <a:rPr lang="ru-RU" sz="2400" dirty="0"/>
              <a:t>Сохранить параметры броска в файл.</a:t>
            </a:r>
          </a:p>
          <a:p>
            <a:pPr lvl="0"/>
            <a:r>
              <a:rPr lang="ru-RU" sz="2400" dirty="0"/>
              <a:t>Ознакомиться с теоретическим материалом по данной теме.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786510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Описание разработанного </a:t>
            </a:r>
            <a:r>
              <a:rPr lang="ru-RU" sz="3500" b="1" dirty="0" smtClean="0"/>
              <a:t>решения</a:t>
            </a:r>
            <a:endParaRPr lang="ru-RU" sz="35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Мною было разработано приложение с графическим интерфейсом, позволяющее моделировать траекторию и рассчитывать параметры движения тела, брошенного вертикально вверх, горизонтально, а также под углом к горизонту. </a:t>
            </a:r>
          </a:p>
          <a:p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0634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Описание разработанного </a:t>
            </a:r>
            <a:r>
              <a:rPr lang="ru-RU" sz="3500" b="1" dirty="0" smtClean="0"/>
              <a:t>решения. Код</a:t>
            </a:r>
            <a:endParaRPr lang="ru-RU" sz="35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/>
              <a:t>Данный проект написан на ЯП </a:t>
            </a:r>
            <a:r>
              <a:rPr lang="en-US" sz="2000" b="1" dirty="0"/>
              <a:t>Python</a:t>
            </a:r>
            <a:r>
              <a:rPr lang="ru-RU" sz="2000" b="1" dirty="0"/>
              <a:t> 3</a:t>
            </a:r>
            <a:r>
              <a:rPr lang="ru-RU" sz="2000" dirty="0"/>
              <a:t> с использованием библиотек: </a:t>
            </a:r>
            <a:r>
              <a:rPr lang="ru-RU" sz="2000" b="1" dirty="0" err="1"/>
              <a:t>tkinter</a:t>
            </a:r>
            <a:r>
              <a:rPr lang="ru-RU" sz="2000" dirty="0"/>
              <a:t> – для разработки графического интерфейса приложения, </a:t>
            </a:r>
            <a:r>
              <a:rPr lang="ru-RU" sz="2000" b="1" dirty="0" err="1"/>
              <a:t>json</a:t>
            </a:r>
            <a:r>
              <a:rPr lang="ru-RU" sz="2000" dirty="0"/>
              <a:t> – для работы с форматом </a:t>
            </a:r>
            <a:r>
              <a:rPr lang="ru-RU" sz="2000" dirty="0" err="1"/>
              <a:t>json</a:t>
            </a:r>
            <a:r>
              <a:rPr lang="ru-RU" sz="2000" dirty="0"/>
              <a:t>, </a:t>
            </a:r>
            <a:r>
              <a:rPr lang="ru-RU" sz="2000" b="1" dirty="0" err="1"/>
              <a:t>webbrowser</a:t>
            </a:r>
            <a:r>
              <a:rPr lang="ru-RU" sz="2000" dirty="0"/>
              <a:t> – для открытия веб-сайтов (в данном проекте - информационного ресурса с теорией по выбранной теме) в браузере</a:t>
            </a:r>
            <a:r>
              <a:rPr lang="ru-RU" sz="2000" dirty="0" smtClean="0"/>
              <a:t>.</a:t>
            </a:r>
            <a:r>
              <a:rPr lang="ru-RU" sz="2000" dirty="0"/>
              <a:t> </a:t>
            </a:r>
          </a:p>
          <a:p>
            <a:pPr marL="0" indent="0">
              <a:buNone/>
            </a:pPr>
            <a:r>
              <a:rPr lang="ru-RU" sz="2000" dirty="0"/>
              <a:t>Используемая библиотека </a:t>
            </a:r>
            <a:r>
              <a:rPr lang="ru-RU" sz="2000" b="1" dirty="0" err="1"/>
              <a:t>tkinter</a:t>
            </a:r>
            <a:r>
              <a:rPr lang="ru-RU" sz="2000" dirty="0"/>
              <a:t> была выбрана, так как она предоставляет возможности для создания приложений с графическим интерфейсом.</a:t>
            </a:r>
          </a:p>
          <a:p>
            <a:pPr marL="0" indent="0">
              <a:buNone/>
            </a:pPr>
            <a:r>
              <a:rPr lang="ru-RU" sz="2000" dirty="0"/>
              <a:t>Библиотека </a:t>
            </a:r>
            <a:r>
              <a:rPr lang="en-US" sz="2000" b="1" dirty="0" err="1"/>
              <a:t>json</a:t>
            </a:r>
            <a:r>
              <a:rPr lang="ru-RU" sz="2000" dirty="0"/>
              <a:t> была выбрана, так как она предоставляет удобные интерфейсы для работы с форматом </a:t>
            </a:r>
            <a:r>
              <a:rPr lang="en-US" sz="2000" dirty="0" err="1"/>
              <a:t>json</a:t>
            </a:r>
            <a:r>
              <a:rPr lang="ru-RU" sz="2000" dirty="0"/>
              <a:t>, который удобно использовать в данном проекте для сохранения результатов расчётов.</a:t>
            </a:r>
          </a:p>
          <a:p>
            <a:pPr marL="0" indent="0">
              <a:buNone/>
            </a:pPr>
            <a:r>
              <a:rPr lang="ru-RU" sz="2000" dirty="0"/>
              <a:t>Библиотека </a:t>
            </a:r>
            <a:r>
              <a:rPr lang="ru-RU" sz="2000" b="1" dirty="0" err="1"/>
              <a:t>webbrowser</a:t>
            </a:r>
            <a:r>
              <a:rPr lang="ru-RU" sz="2000" dirty="0"/>
              <a:t> была выбрана, так как она предоставляет возможность открыть веб-сайт в браузере из самого приложения.</a:t>
            </a:r>
          </a:p>
          <a:p>
            <a:pPr marL="0" indent="0">
              <a:buNone/>
            </a:pPr>
            <a:r>
              <a:rPr lang="ru-RU" sz="2000" dirty="0"/>
              <a:t>Все используемые в проекте библиотеки входят в стандартную библиотеку </a:t>
            </a:r>
            <a:r>
              <a:rPr lang="en-US" sz="2000" dirty="0"/>
              <a:t>Python</a:t>
            </a:r>
            <a:r>
              <a:rPr lang="ru-RU" sz="2000" dirty="0"/>
              <a:t>.</a:t>
            </a:r>
          </a:p>
          <a:p>
            <a:endParaRPr lang="ru-RU" sz="2000" dirty="0"/>
          </a:p>
        </p:txBody>
      </p:sp>
      <p:pic>
        <p:nvPicPr>
          <p:cNvPr id="1026" name="Picture 2" descr="https://webcomicms.net/sites/default/files/clipart/175865/python-logo-png-transparent-images-175865-923150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3" t="33953" r="35024" b="26227"/>
          <a:stretch/>
        </p:blipFill>
        <p:spPr bwMode="auto">
          <a:xfrm>
            <a:off x="8715375" y="520699"/>
            <a:ext cx="1038798" cy="101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417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Описание разработанного </a:t>
            </a:r>
            <a:r>
              <a:rPr lang="ru-RU" sz="3500" b="1" dirty="0" smtClean="0"/>
              <a:t>решения. Интерфейс</a:t>
            </a:r>
            <a:endParaRPr lang="ru-RU" sz="35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501775"/>
            <a:ext cx="10287000" cy="650875"/>
          </a:xfrm>
        </p:spPr>
        <p:txBody>
          <a:bodyPr/>
          <a:lstStyle/>
          <a:p>
            <a:r>
              <a:rPr lang="ru-RU" dirty="0" smtClean="0"/>
              <a:t>Тип броска: вертикально вверх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2143125"/>
            <a:ext cx="6296025" cy="452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443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Описание разработанного </a:t>
            </a:r>
            <a:r>
              <a:rPr lang="ru-RU" sz="3500" b="1" dirty="0" smtClean="0"/>
              <a:t>решения. Интерфейс</a:t>
            </a:r>
            <a:endParaRPr lang="ru-RU" sz="35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501775"/>
            <a:ext cx="10287000" cy="650875"/>
          </a:xfrm>
        </p:spPr>
        <p:txBody>
          <a:bodyPr/>
          <a:lstStyle/>
          <a:p>
            <a:r>
              <a:rPr lang="ru-RU" dirty="0" smtClean="0"/>
              <a:t>Тип броска: горизонтально с некоторой высоты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152650"/>
            <a:ext cx="6172200" cy="430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99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Описание разработанного </a:t>
            </a:r>
            <a:r>
              <a:rPr lang="ru-RU" sz="3500" b="1" dirty="0" smtClean="0"/>
              <a:t>решения. Интерфейс</a:t>
            </a:r>
            <a:endParaRPr lang="ru-RU" sz="3500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838200" y="1501775"/>
            <a:ext cx="10287000" cy="650875"/>
          </a:xfrm>
        </p:spPr>
        <p:txBody>
          <a:bodyPr/>
          <a:lstStyle/>
          <a:p>
            <a:r>
              <a:rPr lang="ru-RU" dirty="0" smtClean="0"/>
              <a:t>Тип броска: под углом к горизонту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675" y="2152651"/>
            <a:ext cx="6233468" cy="440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411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500" b="1" dirty="0"/>
              <a:t>Перспективы развития проекта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sz="2400" dirty="0"/>
              <a:t>Реализация визуализации траектории движения тела (на данный момент эта ф-</a:t>
            </a:r>
            <a:r>
              <a:rPr lang="ru-RU" sz="2400" dirty="0" err="1"/>
              <a:t>ция</a:t>
            </a:r>
            <a:r>
              <a:rPr lang="ru-RU" sz="2400" dirty="0"/>
              <a:t> не была реализована)</a:t>
            </a:r>
          </a:p>
          <a:p>
            <a:pPr lvl="0"/>
            <a:r>
              <a:rPr lang="ru-RU" sz="2400" dirty="0"/>
              <a:t>Реализация ф-</a:t>
            </a:r>
            <a:r>
              <a:rPr lang="ru-RU" sz="2400" dirty="0" err="1"/>
              <a:t>ции</a:t>
            </a:r>
            <a:r>
              <a:rPr lang="ru-RU" sz="2400" dirty="0"/>
              <a:t> импорта параметров броска из файла (на данный момент эта ф-</a:t>
            </a:r>
            <a:r>
              <a:rPr lang="ru-RU" sz="2400" dirty="0" err="1"/>
              <a:t>ция</a:t>
            </a:r>
            <a:r>
              <a:rPr lang="ru-RU" sz="2400" dirty="0"/>
              <a:t> не была реализована)</a:t>
            </a:r>
          </a:p>
          <a:p>
            <a:pPr lvl="0"/>
            <a:r>
              <a:rPr lang="ru-RU" sz="2400" dirty="0"/>
              <a:t>Улучшение графического интерфейса приложения</a:t>
            </a:r>
          </a:p>
          <a:p>
            <a:pPr lvl="0"/>
            <a:r>
              <a:rPr lang="ru-RU" sz="2400" dirty="0"/>
              <a:t>Возможность учитывать сопротивления воздуха и силу ветра при </a:t>
            </a:r>
            <a:r>
              <a:rPr lang="ru-RU" sz="2400" dirty="0" smtClean="0"/>
              <a:t>броске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3658227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514</Words>
  <Application>Microsoft Office PowerPoint</Application>
  <PresentationFormat>Широкоэкранный</PresentationFormat>
  <Paragraphs>51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Моделирование траектории движения брошенного тела.</vt:lpstr>
      <vt:lpstr>Аннотация</vt:lpstr>
      <vt:lpstr>Обоснование актуальности</vt:lpstr>
      <vt:lpstr>Цель и задачи </vt:lpstr>
      <vt:lpstr>Анализ существующих решений</vt:lpstr>
      <vt:lpstr>Анализ существующих решений</vt:lpstr>
      <vt:lpstr>Описание новизны</vt:lpstr>
      <vt:lpstr>Описание разработанного решения</vt:lpstr>
      <vt:lpstr>Описание разработанного решения. Код</vt:lpstr>
      <vt:lpstr>Описание разработанного решения. Интерфейс</vt:lpstr>
      <vt:lpstr>Описание разработанного решения. Интерфейс</vt:lpstr>
      <vt:lpstr>Описание разработанного решения. Интерфейс</vt:lpstr>
      <vt:lpstr>Перспективы развития проекта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траектории движения брошенного тела. </dc:title>
  <dc:creator>leff2208@outlook.com</dc:creator>
  <cp:lastModifiedBy>leff2208@outlook.com</cp:lastModifiedBy>
  <cp:revision>24</cp:revision>
  <dcterms:created xsi:type="dcterms:W3CDTF">2021-02-28T15:30:36Z</dcterms:created>
  <dcterms:modified xsi:type="dcterms:W3CDTF">2021-02-28T15:59:53Z</dcterms:modified>
</cp:coreProperties>
</file>